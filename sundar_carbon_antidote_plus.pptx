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5400" b="1">
                <a:solidFill>
                  <a:srgbClr val="00FF66"/>
                </a:solidFill>
                <a:latin typeface="Outfit"/>
              </a:defRPr>
            </a:pPr>
            <a:r>
              <a:t>SUNDAR CARBON</a:t>
            </a:r>
          </a:p>
          <a:p>
            <a:pPr>
              <a:spcAft>
                <a:spcPts val="1500"/>
              </a:spcAft>
              <a:defRPr sz="5400" b="1">
                <a:solidFill>
                  <a:srgbClr val="FFFFFF"/>
                </a:solidFill>
                <a:latin typeface="Outfit"/>
              </a:defRPr>
            </a:pPr>
            <a:r>
              <a:t>ANTIDOTE PLUS</a:t>
            </a:r>
          </a:p>
          <a:p>
            <a:pPr>
              <a:spcAft>
                <a:spcPts val="2500"/>
              </a:spcAft>
              <a:defRPr sz="2200" b="1">
                <a:solidFill>
                  <a:srgbClr val="00F0FF"/>
                </a:solidFill>
                <a:latin typeface="Outfit"/>
              </a:defRPr>
            </a:pPr>
            <a:r>
              <a:t>with Active Booster Dose (Ethanol Defense)</a:t>
            </a:r>
          </a:p>
          <a:p>
            <a:pPr>
              <a:defRPr sz="1400">
                <a:solidFill>
                  <a:srgbClr val="9FA4B0"/>
                </a:solidFill>
                <a:latin typeface="Inter"/>
              </a:defRPr>
            </a:pPr>
            <a:r>
              <a:t>The ultimate engine rejuvenation, performance boost, and certified fuel system defense for BS4 &amp; BS6 petrol vehicles.</a:t>
            </a:r>
          </a:p>
        </p:txBody>
      </p:sp>
      <p:pic>
        <p:nvPicPr>
          <p:cNvPr id="3" name="Picture 2" descr="product_show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097280"/>
            <a:ext cx="3657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8800"/>
                </a:solidFill>
                <a:latin typeface="Outfit"/>
              </a:defRPr>
            </a:pPr>
            <a:r>
              <a:t>THE THREAT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The Silent Engine Killer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>
                <a:solidFill>
                  <a:srgbClr val="9FA4B0"/>
                </a:solidFill>
                <a:latin typeface="Inter"/>
              </a:defRPr>
            </a:pPr>
            <a:r>
              <a:t>Mandatory government ethanol-blending (up to 20%) in petrol creates high-risk scenarios for engines:</a:t>
            </a:r>
          </a:p>
          <a:p>
            <a:pPr>
              <a:spcAft>
                <a:spcPts val="1400"/>
              </a:spcAft>
              <a:defRPr sz="1400">
                <a:solidFill>
                  <a:srgbClr val="FF8800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Water Absorption (Hygroscopic):</a:t>
            </a:r>
            <a:r>
              <a:rPr>
                <a:solidFill>
                  <a:srgbClr val="9FA4B0"/>
                </a:solidFill>
              </a:rPr>
              <a:t> Ethanol actively absorbs moisture from air, creating a corrosive water-fuel mixture at the bottom of the fuel tank.</a:t>
            </a:r>
          </a:p>
          <a:p>
            <a:pPr>
              <a:spcAft>
                <a:spcPts val="1400"/>
              </a:spcAft>
              <a:defRPr sz="1400">
                <a:solidFill>
                  <a:srgbClr val="FF8800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Corrosive Attack:</a:t>
            </a:r>
            <a:r>
              <a:rPr>
                <a:solidFill>
                  <a:srgbClr val="9FA4B0"/>
                </a:solidFill>
              </a:rPr>
              <a:t> Damages metal tanks, rusts internal fuel lines, and degrades rubber seals and hose couplings.</a:t>
            </a:r>
          </a:p>
          <a:p>
            <a:pPr>
              <a:spcAft>
                <a:spcPts val="1400"/>
              </a:spcAft>
              <a:defRPr sz="1400">
                <a:solidFill>
                  <a:srgbClr val="FF8800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BS4 &amp; BS6 Failure:</a:t>
            </a:r>
            <a:r>
              <a:rPr>
                <a:solidFill>
                  <a:srgbClr val="9FA4B0"/>
                </a:solidFill>
              </a:rPr>
              <a:t> High-pressure fuel injectors clog quickly due to separation deposits, leading to engine misfires, knocking, and power loss.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4572000" cy="4114800"/>
          </a:xfrm>
          <a:prstGeom prst="roundRect">
            <a:avLst/>
          </a:prstGeom>
          <a:solidFill>
            <a:srgbClr val="181A25"/>
          </a:solidFill>
          <a:ln w="1905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500"/>
              </a:spcAft>
              <a:defRPr b="1" sz="1800">
                <a:solidFill>
                  <a:srgbClr val="FF8800"/>
                </a:solidFill>
                <a:latin typeface="Outfit"/>
              </a:defRPr>
            </a:pPr>
            <a:r>
              <a:t>UNPROTECTED FUEL SYSTEM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⚠️ Phase separation isolates water layer at fuel tank base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⚠️ Corroding fuel pumps and rusting injectors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⚠️ Decreased thermal combustion efficiency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⚠️ Higher emissions &amp; costly mechanical wear-and-tear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Outfit"/>
              </a:defRPr>
            </a:pPr>
            <a:r>
              <a:t>THE 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Active Ethanol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>
                <a:solidFill>
                  <a:srgbClr val="9FA4B0"/>
                </a:solidFill>
                <a:latin typeface="Inter"/>
              </a:defRPr>
            </a:pPr>
            <a:r>
              <a:t>The Booster Dose is engineered to chemically safeguard your entire fuel line:</a:t>
            </a:r>
          </a:p>
          <a:p>
            <a:pPr>
              <a:spcAft>
                <a:spcPts val="1400"/>
              </a:spcAft>
              <a:defRPr sz="1400">
                <a:solidFill>
                  <a:srgbClr val="00F0FF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Combats Phase Separation:</a:t>
            </a:r>
            <a:r>
              <a:rPr>
                <a:solidFill>
                  <a:srgbClr val="9FA4B0"/>
                </a:solidFill>
              </a:rPr>
              <a:t> Keeps ethanol and moisture fully dispersed and bonded within the fuel. Prevents water pooling at the tank base.</a:t>
            </a:r>
          </a:p>
          <a:p>
            <a:pPr>
              <a:spcAft>
                <a:spcPts val="1400"/>
              </a:spcAft>
              <a:defRPr sz="1400">
                <a:solidFill>
                  <a:srgbClr val="00F0FF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Micro-Coating Shield:</a:t>
            </a:r>
            <a:r>
              <a:rPr>
                <a:solidFill>
                  <a:srgbClr val="9FA4B0"/>
                </a:solidFill>
              </a:rPr>
              <a:t> Coats fuel pump parts, lines, and injectors with a molecular anti-corrosive layer that repels water molecules.</a:t>
            </a:r>
          </a:p>
          <a:p>
            <a:pPr>
              <a:spcAft>
                <a:spcPts val="1400"/>
              </a:spcAft>
              <a:defRPr sz="1400">
                <a:solidFill>
                  <a:srgbClr val="00F0FF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Nozzle De-Clogging:</a:t>
            </a:r>
            <a:r>
              <a:rPr>
                <a:solidFill>
                  <a:srgbClr val="9FA4B0"/>
                </a:solidFill>
              </a:rPr>
              <a:t> Keeps high-precision BS4 and BS6 fuel injector spray orifices completely clean and clear of deposits.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4572000" cy="4114800"/>
          </a:xfrm>
          <a:prstGeom prst="roundRect">
            <a:avLst/>
          </a:prstGeom>
          <a:solidFill>
            <a:srgbClr val="181A25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500"/>
              </a:spcAft>
              <a:defRPr b="1" sz="1800">
                <a:solidFill>
                  <a:srgbClr val="00F0FF"/>
                </a:solidFill>
                <a:latin typeface="Outfit"/>
              </a:defRPr>
            </a:pPr>
            <a:r>
              <a:t>BOOSTER DOSE SHIELD ON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✔️ Corrosion prevented on fuel lines, tanks, and valves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✔️ Clean, stable fuel combustion under all blended states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✔️ Maximum nozzle atomization (BS4 &amp; BS6 optimized)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✔️ Extended life for high-pressure fuel pumps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66"/>
                </a:solidFill>
                <a:latin typeface="Outfit"/>
              </a:defRPr>
            </a:pPr>
            <a:r>
              <a:t>PERFORMANCE SURGE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Certified Engine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FA4B0"/>
                </a:solidFill>
                <a:latin typeface="Inter"/>
              </a:defRPr>
            </a:pPr>
            <a:r>
              <a:t>Certified performance values representing significant operational efficiency improvements: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383280" cy="3657600"/>
          </a:xfrm>
          <a:prstGeom prst="roundRect">
            <a:avLst/>
          </a:prstGeom>
          <a:solidFill>
            <a:srgbClr val="181A25"/>
          </a:solidFill>
          <a:ln w="127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500"/>
              </a:spcAft>
              <a:defRPr sz="5400" b="1">
                <a:solidFill>
                  <a:srgbClr val="00FF66"/>
                </a:solidFill>
                <a:latin typeface="Outfit"/>
              </a:defRPr>
            </a:pPr>
            <a:r>
              <a:t>+30%</a:t>
            </a:r>
          </a:p>
          <a:p>
            <a:pPr algn="ctr">
              <a:spcAft>
                <a:spcPts val="1500"/>
              </a:spcAft>
              <a:defRPr sz="1400" b="1">
                <a:solidFill>
                  <a:srgbClr val="FFFFFF"/>
                </a:solidFill>
                <a:latin typeface="Outfit"/>
              </a:defRPr>
            </a:pPr>
            <a:r>
              <a:t>FUEL EFFICIENCY</a:t>
            </a:r>
          </a:p>
          <a:p>
            <a:pPr algn="ctr">
              <a:defRPr sz="1200">
                <a:solidFill>
                  <a:srgbClr val="9FA4B0"/>
                </a:solidFill>
                <a:latin typeface="Inter"/>
              </a:defRPr>
            </a:pPr>
            <a:r>
              <a:t>Increases vehicle mileage and overall fuel economy by up to 30%.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03120"/>
            <a:ext cx="3383280" cy="3657600"/>
          </a:xfrm>
          <a:prstGeom prst="roundRect">
            <a:avLst/>
          </a:prstGeom>
          <a:solidFill>
            <a:srgbClr val="181A25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500"/>
              </a:spcAft>
              <a:defRPr sz="5400" b="1">
                <a:solidFill>
                  <a:srgbClr val="00F0FF"/>
                </a:solidFill>
                <a:latin typeface="Outfit"/>
              </a:defRPr>
            </a:pPr>
            <a:r>
              <a:t>+80%</a:t>
            </a:r>
          </a:p>
          <a:p>
            <a:pPr algn="ctr">
              <a:spcAft>
                <a:spcPts val="1500"/>
              </a:spcAft>
              <a:defRPr sz="1400" b="1">
                <a:solidFill>
                  <a:srgbClr val="FFFFFF"/>
                </a:solidFill>
                <a:latin typeface="Outfit"/>
              </a:defRPr>
            </a:pPr>
            <a:r>
              <a:t>TORQUE &amp; POWER</a:t>
            </a:r>
          </a:p>
          <a:p>
            <a:pPr algn="ctr">
              <a:defRPr sz="1200">
                <a:solidFill>
                  <a:srgbClr val="9FA4B0"/>
                </a:solidFill>
                <a:latin typeface="Inter"/>
              </a:defRPr>
            </a:pPr>
            <a:r>
              <a:t>Delivers up to an 80% increase in engine pickup, power, and torque.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03120"/>
            <a:ext cx="3383280" cy="3657600"/>
          </a:xfrm>
          <a:prstGeom prst="roundRect">
            <a:avLst/>
          </a:prstGeom>
          <a:solidFill>
            <a:srgbClr val="181A25"/>
          </a:solidFill>
          <a:ln w="127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500"/>
              </a:spcAft>
              <a:defRPr sz="5400" b="1">
                <a:solidFill>
                  <a:srgbClr val="FF8800"/>
                </a:solidFill>
                <a:latin typeface="Outfit"/>
              </a:defRPr>
            </a:pPr>
            <a:r>
              <a:t>-80%</a:t>
            </a:r>
          </a:p>
          <a:p>
            <a:pPr algn="ctr">
              <a:spcAft>
                <a:spcPts val="1500"/>
              </a:spcAft>
              <a:defRPr sz="1400" b="1">
                <a:solidFill>
                  <a:srgbClr val="FFFFFF"/>
                </a:solidFill>
                <a:latin typeface="Outfit"/>
              </a:defRPr>
            </a:pPr>
            <a:r>
              <a:t>COOLER RUNNING</a:t>
            </a:r>
          </a:p>
          <a:p>
            <a:pPr algn="ctr">
              <a:defRPr sz="1200">
                <a:solidFill>
                  <a:srgbClr val="9FA4B0"/>
                </a:solidFill>
                <a:latin typeface="Inter"/>
              </a:defRPr>
            </a:pPr>
            <a:r>
              <a:t>Decreases external engine running temperatures by up to 80%.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Outfit"/>
              </a:defRPr>
            </a:pPr>
            <a:r>
              <a:t>MAINTENANCE &amp; DURABILITY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Extreme Wear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>
                <a:solidFill>
                  <a:srgbClr val="9FA4B0"/>
                </a:solidFill>
                <a:latin typeface="Inter"/>
              </a:defRPr>
            </a:pPr>
            <a:r>
              <a:t>Minimizes engine downtime and cuts vehicle maintenance overhead:</a:t>
            </a:r>
          </a:p>
          <a:p>
            <a:pPr>
              <a:spcAft>
                <a:spcPts val="1000"/>
              </a:spcAft>
              <a:defRPr sz="1300">
                <a:solidFill>
                  <a:srgbClr val="00F0FF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85% Less Wear &amp; Tear:</a:t>
            </a:r>
            <a:r>
              <a:rPr>
                <a:solidFill>
                  <a:srgbClr val="9FA4B0"/>
                </a:solidFill>
              </a:rPr>
              <a:t> Decreases mechanical engine parts wear-and-tear by up to 85% by creating a resilient lubricant boundary layer.</a:t>
            </a:r>
          </a:p>
          <a:p>
            <a:pPr>
              <a:spcAft>
                <a:spcPts val="1000"/>
              </a:spcAft>
              <a:defRPr sz="1300">
                <a:solidFill>
                  <a:srgbClr val="00F0FF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5x Extended Oil Life:</a:t>
            </a:r>
            <a:r>
              <a:rPr>
                <a:solidFill>
                  <a:srgbClr val="9FA4B0"/>
                </a:solidFill>
              </a:rPr>
              <a:t> Reduces oil oxidation and soot contamination, extending oil longevity up to 5x.</a:t>
            </a:r>
          </a:p>
          <a:p>
            <a:pPr>
              <a:spcAft>
                <a:spcPts val="1000"/>
              </a:spcAft>
              <a:defRPr sz="1300">
                <a:solidFill>
                  <a:srgbClr val="00F0FF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5x Extended Engine Life:</a:t>
            </a:r>
            <a:r>
              <a:rPr>
                <a:solidFill>
                  <a:srgbClr val="9FA4B0"/>
                </a:solidFill>
              </a:rPr>
              <a:t> Protects internal components from micro-abrasions and combustion stress.</a:t>
            </a:r>
          </a:p>
          <a:p>
            <a:pPr>
              <a:spcAft>
                <a:spcPts val="1000"/>
              </a:spcAft>
              <a:defRPr sz="1300">
                <a:solidFill>
                  <a:srgbClr val="00F0FF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Refined Smoothness:</a:t>
            </a:r>
            <a:r>
              <a:rPr>
                <a:solidFill>
                  <a:srgbClr val="9FA4B0"/>
                </a:solidFill>
              </a:rPr>
              <a:t> Engine noise drops by 60% and vibrations cut by 40% for a smooth drive. Increases AC performance by up to 60% by reducing load.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4572000" cy="4114800"/>
          </a:xfrm>
          <a:prstGeom prst="roundRect">
            <a:avLst/>
          </a:prstGeom>
          <a:solidFill>
            <a:srgbClr val="181A25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500"/>
              </a:spcAft>
              <a:defRPr b="1" sz="1800">
                <a:solidFill>
                  <a:srgbClr val="00F0FF"/>
                </a:solidFill>
                <a:latin typeface="Outfit"/>
              </a:defRPr>
            </a:pPr>
            <a:r>
              <a:t>FINANCIAL IMPACT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₹ Fewer engine oil changes (saves ₹3,000+ per change)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₹ Zero premature fuel system replacement costs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₹ Less downtime for fleet vehicles, maximizing revenue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₹ Up to ₹15,000+ in annual fuel &amp; maintenance savings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66"/>
                </a:solidFill>
                <a:latin typeface="Outfit"/>
              </a:defRPr>
            </a:pPr>
            <a:r>
              <a:t>ENVIRONMENTAL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Clean Combustion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>
                <a:solidFill>
                  <a:srgbClr val="9FA4B0"/>
                </a:solidFill>
                <a:latin typeface="Inter"/>
              </a:defRPr>
            </a:pPr>
            <a:r>
              <a:t>A revolutionary leap in emission reductions and exhaust quality:</a:t>
            </a:r>
          </a:p>
          <a:p>
            <a:pPr>
              <a:spcAft>
                <a:spcPts val="1000"/>
              </a:spcAft>
              <a:defRPr sz="1300">
                <a:solidFill>
                  <a:srgbClr val="00FF66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99.9% NOx &amp; SOx Elimination:</a:t>
            </a:r>
            <a:r>
              <a:rPr>
                <a:solidFill>
                  <a:srgbClr val="9FA4B0"/>
                </a:solidFill>
              </a:rPr>
              <a:t> Near-complete removal of highly toxic nitrogen oxides and sulfur oxides in the exhaust stream.</a:t>
            </a:r>
          </a:p>
          <a:p>
            <a:pPr>
              <a:spcAft>
                <a:spcPts val="1000"/>
              </a:spcAft>
              <a:defRPr sz="1300">
                <a:solidFill>
                  <a:srgbClr val="00FF66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90% Arsenic Reduction:</a:t>
            </a:r>
            <a:r>
              <a:rPr>
                <a:solidFill>
                  <a:srgbClr val="9FA4B0"/>
                </a:solidFill>
              </a:rPr>
              <a:t> Drastically minimizes toxic arsenic particulate exhaust by up to 90%.</a:t>
            </a:r>
          </a:p>
          <a:p>
            <a:pPr>
              <a:spcAft>
                <a:spcPts val="1000"/>
              </a:spcAft>
              <a:defRPr sz="1300">
                <a:solidFill>
                  <a:srgbClr val="00FF66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Oxygen Boost (+50% O₂):</a:t>
            </a:r>
            <a:r>
              <a:rPr>
                <a:solidFill>
                  <a:srgbClr val="9FA4B0"/>
                </a:solidFill>
              </a:rPr>
              <a:t> Dramatically increases clean, breathable oxygen levels in the tailpipe output.</a:t>
            </a:r>
          </a:p>
          <a:p>
            <a:pPr>
              <a:spcAft>
                <a:spcPts val="1000"/>
              </a:spcAft>
              <a:defRPr sz="1300">
                <a:solidFill>
                  <a:srgbClr val="00FF66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Neutralizes Footprint:</a:t>
            </a:r>
            <a:r>
              <a:rPr>
                <a:solidFill>
                  <a:srgbClr val="9FA4B0"/>
                </a:solidFill>
              </a:rPr>
              <a:t> Optimizes engine combustion to neutralize standard carbon footprint outputs.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4572000" cy="4114800"/>
          </a:xfrm>
          <a:prstGeom prst="roundRect">
            <a:avLst/>
          </a:prstGeom>
          <a:solidFill>
            <a:srgbClr val="181A25"/>
          </a:solidFill>
          <a:ln w="127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500"/>
              </a:spcAft>
              <a:defRPr b="1" sz="1800">
                <a:solidFill>
                  <a:srgbClr val="00FF66"/>
                </a:solidFill>
                <a:latin typeface="Outfit"/>
              </a:defRPr>
            </a:pPr>
            <a:r>
              <a:t>ECOLOGICAL COMPLIANCE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🌱 Highly recommended for PUC emission compliance tests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🌱 Converts exhaust elements into cleaner air compounds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🌱 Neutralizes carbon output through extreme fuel efficiency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🌱 Reduces toxic smog-forming compounds to near-zero levels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66"/>
                </a:solidFill>
                <a:latin typeface="Outfit"/>
              </a:defRPr>
            </a:pPr>
            <a:r>
              <a:t>PEACE OF MIND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Long-Term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0"/>
              </a:spcAft>
              <a:defRPr sz="1500">
                <a:solidFill>
                  <a:srgbClr val="9FA4B0"/>
                </a:solidFill>
                <a:latin typeface="Inter"/>
              </a:defRPr>
            </a:pPr>
            <a:r>
              <a:t>Engineered for maximum duration and passenger peace of mind:</a:t>
            </a:r>
          </a:p>
          <a:p>
            <a:pPr>
              <a:spcAft>
                <a:spcPts val="1000"/>
              </a:spcAft>
              <a:defRPr sz="2000" b="1">
                <a:solidFill>
                  <a:srgbClr val="00FF66"/>
                </a:solidFill>
                <a:latin typeface="Outfit"/>
              </a:defRPr>
            </a:pPr>
            <a:r>
              <a:t>1,00,000 KM ACTIVE DURATION</a:t>
            </a:r>
          </a:p>
          <a:p>
            <a:pPr>
              <a:spcAft>
                <a:spcPts val="2500"/>
              </a:spcAft>
              <a:defRPr sz="1400">
                <a:solidFill>
                  <a:srgbClr val="9FA4B0"/>
                </a:solidFill>
                <a:latin typeface="Inter"/>
              </a:defRPr>
            </a:pPr>
            <a:r>
              <a:t>A single complete application remains fully active in the vehicle's engine and lubrication systems for 1,00,000 kilometers, requiring zero top-ups or frequent treatment renewals.</a:t>
            </a:r>
          </a:p>
          <a:p>
            <a:pPr>
              <a:spcAft>
                <a:spcPts val="500"/>
              </a:spcAft>
              <a:defRPr sz="1400" b="1">
                <a:solidFill>
                  <a:srgbClr val="00F0FF"/>
                </a:solidFill>
                <a:latin typeface="Outfit"/>
              </a:defRPr>
            </a:pPr>
            <a:r>
              <a:t>PRESENTER NOTE:</a:t>
            </a:r>
          </a:p>
          <a:p>
            <a:pPr>
              <a:defRPr sz="1300">
                <a:solidFill>
                  <a:srgbClr val="9FA4B0"/>
                </a:solidFill>
                <a:latin typeface="Inter"/>
              </a:defRPr>
            </a:pPr>
            <a:r>
              <a:t>Keep presentations focused on the long-term cost benefits, mechanical reliability, and peace of mind this 1,00,000 km timeline offers to individual car owners and corporate fleet managers.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4572000" cy="4114800"/>
          </a:xfrm>
          <a:prstGeom prst="roundRect">
            <a:avLst/>
          </a:prstGeom>
          <a:solidFill>
            <a:srgbClr val="181A25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731520"/>
          <a:lstStyle/>
          <a:p>
            <a:pPr algn="ctr">
              <a:spcAft>
                <a:spcPts val="1000"/>
              </a:spcAft>
              <a:defRPr b="1" sz="4000">
                <a:solidFill>
                  <a:srgbClr val="00FF66"/>
                </a:solidFill>
                <a:latin typeface="Outfit"/>
              </a:defRPr>
            </a:pPr>
            <a:r>
              <a:t>1,00,000 KM</a:t>
            </a:r>
          </a:p>
          <a:p>
            <a:pPr algn="ctr">
              <a:spcAft>
                <a:spcPts val="2000"/>
              </a:spcAft>
              <a:defRPr b="1" sz="1800">
                <a:solidFill>
                  <a:srgbClr val="FFFFFF"/>
                </a:solidFill>
                <a:latin typeface="Outfit"/>
              </a:defRPr>
            </a:pPr>
            <a:r>
              <a:t>ACTIVE EFFICACY GUARANTEE</a:t>
            </a:r>
          </a:p>
          <a:p>
            <a:pPr algn="ctr">
              <a:defRPr sz="1300">
                <a:solidFill>
                  <a:srgbClr val="9FA4B0"/>
                </a:solidFill>
                <a:latin typeface="Inter"/>
              </a:defRPr>
            </a:pPr>
            <a:r>
              <a:t>Certified to protect high-pressure fuel injectors and mechanical cylinders across a massive driving range.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