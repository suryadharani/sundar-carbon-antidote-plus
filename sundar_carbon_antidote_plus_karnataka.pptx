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146304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00FF66"/>
                </a:solidFill>
                <a:latin typeface="Tunga"/>
              </a:defRPr>
            </a:pPr>
            <a:r>
              <a:t>ಕನ್ನಡಿಗರ ವಾಹನಗಳಿಗೆ ಸುರಕ್ಷಾ ಕವಚ</a:t>
            </a:r>
          </a:p>
          <a:p>
            <a:pPr>
              <a:spcAft>
                <a:spcPts val="0"/>
              </a:spcAft>
              <a:defRPr sz="5200" b="1">
                <a:solidFill>
                  <a:srgbClr val="00FF66"/>
                </a:solidFill>
                <a:latin typeface="Outfit"/>
              </a:defRPr>
            </a:pPr>
            <a:r>
              <a:t>SUNDAR CARBON</a:t>
            </a:r>
          </a:p>
          <a:p>
            <a:pPr>
              <a:spcAft>
                <a:spcPts val="1200"/>
              </a:spcAft>
              <a:defRPr sz="5200" b="1">
                <a:solidFill>
                  <a:srgbClr val="FFFFFF"/>
                </a:solidFill>
                <a:latin typeface="Outfit"/>
              </a:defRPr>
            </a:pPr>
            <a:r>
              <a:t>ANTIDOTE PLUS</a:t>
            </a:r>
          </a:p>
          <a:p>
            <a:pPr>
              <a:spcAft>
                <a:spcPts val="2000"/>
              </a:spcAft>
              <a:defRPr sz="2000" b="1">
                <a:solidFill>
                  <a:srgbClr val="00F0FF"/>
                </a:solidFill>
                <a:latin typeface="Outfit"/>
              </a:defRPr>
            </a:pPr>
            <a:r>
              <a:t>with Active Booster Dose (Ethanol Defense)</a:t>
            </a:r>
          </a:p>
          <a:p>
            <a:pPr>
              <a:defRPr sz="1300">
                <a:solidFill>
                  <a:srgbClr val="9FA4B0"/>
                </a:solidFill>
                <a:latin typeface="Inter"/>
              </a:defRPr>
            </a:pPr>
            <a:r>
              <a:t>The ultimate engine rejuvenation, performance boost, and certified fuel system defense calibrated for Karnataka's road and fuel conditions.</a:t>
            </a:r>
          </a:p>
        </p:txBody>
      </p:sp>
      <p:pic>
        <p:nvPicPr>
          <p:cNvPr id="4" name="Picture 3" descr="product_show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371600"/>
            <a:ext cx="34747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8800"/>
                </a:solidFill>
                <a:latin typeface="Outfit"/>
              </a:defRPr>
            </a:pPr>
            <a:r>
              <a:t>THE THREAT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Outfit"/>
              </a:defRPr>
            </a:pPr>
            <a:r>
              <a:t>The Sugar State Fuel Challenge</a:t>
            </a:r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146304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9FA4B0"/>
                </a:solidFill>
                <a:latin typeface="Inter"/>
              </a:defRPr>
            </a:pPr>
            <a:r>
              <a:t>Mandatory government E20 (20% Ethanol) blended petrol creates severe operational risks on local roads:</a:t>
            </a:r>
          </a:p>
          <a:p>
            <a:pPr>
              <a:spcAft>
                <a:spcPts val="1200"/>
              </a:spcAft>
              <a:defRPr sz="1400">
                <a:solidFill>
                  <a:srgbClr val="FF8800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High Ethanol Exposure:</a:t>
            </a:r>
            <a:r>
              <a:rPr>
                <a:solidFill>
                  <a:srgbClr val="9FA4B0"/>
                </a:solidFill>
              </a:rPr>
              <a:t> As a leading sugarcane state, Karnataka actively distributes high ethanol blends derived from crop molasses.</a:t>
            </a:r>
          </a:p>
          <a:p>
            <a:pPr>
              <a:spcAft>
                <a:spcPts val="1200"/>
              </a:spcAft>
              <a:defRPr sz="1400">
                <a:solidFill>
                  <a:srgbClr val="FF8800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Humidity &amp; Water Phase separation:</a:t>
            </a:r>
            <a:r>
              <a:rPr>
                <a:solidFill>
                  <a:srgbClr val="9FA4B0"/>
                </a:solidFill>
              </a:rPr>
              <a:t> In humid climates like coastal Mangaluru, Udupi, and Karwar, ethanol quickly absorbs water. This causes phase separation, pooling corrosive water at the tank bottom.</a:t>
            </a:r>
          </a:p>
          <a:p>
            <a:pPr>
              <a:spcAft>
                <a:spcPts val="1200"/>
              </a:spcAft>
              <a:defRPr sz="1400">
                <a:solidFill>
                  <a:srgbClr val="FF8800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Clogged BS4 &amp; BS6 Fuel Lines:</a:t>
            </a:r>
            <a:r>
              <a:rPr>
                <a:solidFill>
                  <a:srgbClr val="9FA4B0"/>
                </a:solidFill>
              </a:rPr>
              <a:t> High pressure injectors clog rapidly with chemical deposits, leading to engine knocking, lost power, and misfires on city roads.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572000" cy="4114800"/>
          </a:xfrm>
          <a:prstGeom prst="roundRect">
            <a:avLst/>
          </a:prstGeom>
          <a:solidFill>
            <a:srgbClr val="181A25"/>
          </a:solidFill>
          <a:ln w="1905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500"/>
              </a:spcAft>
              <a:defRPr b="1" sz="1800">
                <a:solidFill>
                  <a:srgbClr val="FF8800"/>
                </a:solidFill>
                <a:latin typeface="Outfit"/>
              </a:defRPr>
            </a:pPr>
            <a:r>
              <a:t>UNPROTECTED VEHICLE STATE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⚠️ Water separation corrupts fuel tank composition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⚠️ Corroding fuel pumps and rusting injectors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⚠️ Decreased power during steep Western Ghats climbs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⚠️ Expensive breakdown repairs on city &amp; highway commutes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Outfit"/>
              </a:defRPr>
            </a:pPr>
            <a:r>
              <a:t>THE 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Outfit"/>
              </a:defRPr>
            </a:pPr>
            <a:r>
              <a:t>Booster Dose (ಎಥನಾಲ್ ಇಂಜೆಕ್ಟರ್ ರಕ್ಷಕ)</a:t>
            </a:r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146304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9FA4B0"/>
                </a:solidFill>
                <a:latin typeface="Inter"/>
              </a:defRPr>
            </a:pPr>
            <a:r>
              <a:t>The active Booster Dose provides an immediate chemical defense shield for petrol engines:</a:t>
            </a:r>
          </a:p>
          <a:p>
            <a:pPr>
              <a:spcAft>
                <a:spcPts val="1200"/>
              </a:spcAft>
              <a:defRPr sz="1400">
                <a:solidFill>
                  <a:srgbClr val="00F0FF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Combats Phase Separation:</a:t>
            </a:r>
            <a:r>
              <a:rPr>
                <a:solidFill>
                  <a:srgbClr val="9FA4B0"/>
                </a:solidFill>
              </a:rPr>
              <a:t> Keeps ethanol and water fully bonded in the fuel, ensuring it burns off smoothly without pooling in the tank.</a:t>
            </a:r>
          </a:p>
          <a:p>
            <a:pPr>
              <a:spcAft>
                <a:spcPts val="1200"/>
              </a:spcAft>
              <a:defRPr sz="1400">
                <a:solidFill>
                  <a:srgbClr val="00F0FF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Micro-Coating Shield:</a:t>
            </a:r>
            <a:r>
              <a:rPr>
                <a:solidFill>
                  <a:srgbClr val="9FA4B0"/>
                </a:solidFill>
              </a:rPr>
              <a:t> Coats fuel pump parts, lines, and injectors with a molecular anti-corrosive layer that repels acidic moisture.</a:t>
            </a:r>
          </a:p>
          <a:p>
            <a:pPr>
              <a:spcAft>
                <a:spcPts val="1200"/>
              </a:spcAft>
              <a:defRPr sz="1400">
                <a:solidFill>
                  <a:srgbClr val="00F0FF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Restores Injector Spray:</a:t>
            </a:r>
            <a:r>
              <a:rPr>
                <a:solidFill>
                  <a:srgbClr val="9FA4B0"/>
                </a:solidFill>
              </a:rPr>
              <a:t> Disperses blockages and keeps high-precision BS4 &amp; BS6 injector orifices completely clean for fuel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572000" cy="4114800"/>
          </a:xfrm>
          <a:prstGeom prst="roundRect">
            <a:avLst/>
          </a:prstGeom>
          <a:solidFill>
            <a:srgbClr val="181A25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500"/>
              </a:spcAft>
              <a:defRPr b="1" sz="1800">
                <a:solidFill>
                  <a:srgbClr val="00F0FF"/>
                </a:solidFill>
                <a:latin typeface="Outfit"/>
              </a:defRPr>
            </a:pPr>
            <a:r>
              <a:t>BOOSTER DOSE ACTIVE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✔️ Complete prevention of phase separation in local tanks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✔️ Corrosion shield active on fuel pumps and lines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✔️ Optimal fuel atomization (BS4 &amp; BS6 optimized)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✔️ Ensures engine power on sugarcane-derived E20 fuel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F66"/>
                </a:solidFill>
                <a:latin typeface="Outfit"/>
              </a:defRPr>
            </a:pPr>
            <a:r>
              <a:t>PERFORMANCE SURGE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Outfit"/>
              </a:defRPr>
            </a:pPr>
            <a:r>
              <a:t>Conquering Karnataka's Terrains</a:t>
            </a:r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146304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FA4B0"/>
                </a:solidFill>
                <a:latin typeface="Inter"/>
              </a:defRPr>
            </a:pPr>
            <a:r>
              <a:t>Certified performance values representing major operational improvements on local routes: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383280" cy="3657600"/>
          </a:xfrm>
          <a:prstGeom prst="roundRect">
            <a:avLst/>
          </a:prstGeom>
          <a:solidFill>
            <a:srgbClr val="181A25"/>
          </a:solidFill>
          <a:ln w="1270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500"/>
              </a:spcAft>
              <a:defRPr sz="5400" b="1">
                <a:solidFill>
                  <a:srgbClr val="00FF66"/>
                </a:solidFill>
                <a:latin typeface="Outfit"/>
              </a:defRPr>
            </a:pPr>
            <a:r>
              <a:t>+30%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FFFFFF"/>
                </a:solidFill>
                <a:latin typeface="Outfit"/>
              </a:defRPr>
            </a:pPr>
            <a:r>
              <a:t>MILEAGE BOOST</a:t>
            </a:r>
          </a:p>
          <a:p>
            <a:pPr algn="ctr">
              <a:defRPr sz="1200">
                <a:solidFill>
                  <a:srgbClr val="9FA4B0"/>
                </a:solidFill>
                <a:latin typeface="Inter"/>
              </a:defRPr>
            </a:pPr>
            <a:r>
              <a:t>Increases mileage and overall fuel economy by up to 30%. Saves thousands of Rupees on long highway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383280" cy="3657600"/>
          </a:xfrm>
          <a:prstGeom prst="roundRect">
            <a:avLst/>
          </a:prstGeom>
          <a:solidFill>
            <a:srgbClr val="181A25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500"/>
              </a:spcAft>
              <a:defRPr sz="5400" b="1">
                <a:solidFill>
                  <a:srgbClr val="00F0FF"/>
                </a:solidFill>
                <a:latin typeface="Outfit"/>
              </a:defRPr>
            </a:pPr>
            <a:r>
              <a:t>+80%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FFFFFF"/>
                </a:solidFill>
                <a:latin typeface="Outfit"/>
              </a:defRPr>
            </a:pPr>
            <a:r>
              <a:t>TORQUE &amp; POWER</a:t>
            </a:r>
          </a:p>
          <a:p>
            <a:pPr algn="ctr">
              <a:defRPr sz="1200">
                <a:solidFill>
                  <a:srgbClr val="9FA4B0"/>
                </a:solidFill>
                <a:latin typeface="Inter"/>
              </a:defRPr>
            </a:pPr>
            <a:r>
              <a:t>Delivers an 80% increase in power and pickup. Critical for steep Western Ghats climbs (Charmadi, Shiradi) and Nandi Hills.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03120"/>
            <a:ext cx="3383280" cy="3657600"/>
          </a:xfrm>
          <a:prstGeom prst="roundRect">
            <a:avLst/>
          </a:prstGeom>
          <a:solidFill>
            <a:srgbClr val="181A25"/>
          </a:solidFill>
          <a:ln w="12700">
            <a:solidFill>
              <a:srgbClr val="FF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500"/>
              </a:spcAft>
              <a:defRPr sz="5400" b="1">
                <a:solidFill>
                  <a:srgbClr val="FF8800"/>
                </a:solidFill>
                <a:latin typeface="Outfit"/>
              </a:defRPr>
            </a:pPr>
            <a:r>
              <a:t>-80%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FFFFFF"/>
                </a:solidFill>
                <a:latin typeface="Outfit"/>
              </a:defRPr>
            </a:pPr>
            <a:r>
              <a:t>COOLER RUNNING</a:t>
            </a:r>
          </a:p>
          <a:p>
            <a:pPr algn="ctr">
              <a:defRPr sz="1200">
                <a:solidFill>
                  <a:srgbClr val="9FA4B0"/>
                </a:solidFill>
                <a:latin typeface="Inter"/>
              </a:defRPr>
            </a:pPr>
            <a:r>
              <a:t>Decreases external engine running temperatures by up to 80%. Prevents overheating in Bengaluru's bumper-to-bumper gridlock.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Outfit"/>
              </a:defRPr>
            </a:pPr>
            <a:r>
              <a:t>MAINTENANCE &amp; DURABILITY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Outfit"/>
              </a:defRPr>
            </a:pPr>
            <a:r>
              <a:t>Extreme Wear &amp; Cost Reduction</a:t>
            </a:r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146304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9FA4B0"/>
                </a:solidFill>
                <a:latin typeface="Inter"/>
              </a:defRPr>
            </a:pPr>
            <a:r>
              <a:t>Minimizes engine downtime and cuts annual maintenance budgets:</a:t>
            </a:r>
          </a:p>
          <a:p>
            <a:pPr>
              <a:spcAft>
                <a:spcPts val="1000"/>
              </a:spcAft>
              <a:defRPr sz="1300">
                <a:solidFill>
                  <a:srgbClr val="00F0FF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85% Less Wear &amp; Tear:</a:t>
            </a:r>
            <a:r>
              <a:rPr>
                <a:solidFill>
                  <a:srgbClr val="9FA4B0"/>
                </a:solidFill>
              </a:rPr>
              <a:t> Decreases mechanical engine parts wear by up to 85% by creating a resilient lubricant boundary layer.</a:t>
            </a:r>
          </a:p>
          <a:p>
            <a:pPr>
              <a:spcAft>
                <a:spcPts val="1000"/>
              </a:spcAft>
              <a:defRPr sz="1300">
                <a:solidFill>
                  <a:srgbClr val="00F0FF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5x Extended Oil Life:</a:t>
            </a:r>
            <a:r>
              <a:rPr>
                <a:solidFill>
                  <a:srgbClr val="9FA4B0"/>
                </a:solidFill>
              </a:rPr>
              <a:t> Reduces oil degradation and contamination, extending oil changes by 5 times.</a:t>
            </a:r>
          </a:p>
          <a:p>
            <a:pPr>
              <a:spcAft>
                <a:spcPts val="1000"/>
              </a:spcAft>
              <a:defRPr sz="1300">
                <a:solidFill>
                  <a:srgbClr val="00F0FF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5x Extended Engine Life:</a:t>
            </a:r>
            <a:r>
              <a:rPr>
                <a:solidFill>
                  <a:srgbClr val="9FA4B0"/>
                </a:solidFill>
              </a:rPr>
              <a:t> Protects internal components from micro-abrasions and heat stress.</a:t>
            </a:r>
          </a:p>
          <a:p>
            <a:pPr>
              <a:spcAft>
                <a:spcPts val="1000"/>
              </a:spcAft>
              <a:defRPr sz="1300">
                <a:solidFill>
                  <a:srgbClr val="00F0FF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Refinement &amp; Comfort:</a:t>
            </a:r>
            <a:r>
              <a:rPr>
                <a:solidFill>
                  <a:srgbClr val="9FA4B0"/>
                </a:solidFill>
              </a:rPr>
              <a:t> Drops engine noise by 60% and vibrations by 40% on rough roads. Enhances vehicle AC performance by up to 60% by easing engine strain.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572000" cy="4114800"/>
          </a:xfrm>
          <a:prstGeom prst="roundRect">
            <a:avLst/>
          </a:prstGeom>
          <a:solidFill>
            <a:srgbClr val="181A25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500"/>
              </a:spcAft>
              <a:defRPr b="1" sz="1800">
                <a:solidFill>
                  <a:srgbClr val="00F0FF"/>
                </a:solidFill>
                <a:latin typeface="Outfit"/>
              </a:defRPr>
            </a:pPr>
            <a:r>
              <a:t>FINANCIAL IMPACT IN RUPEES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₹ Fewer engine oil changes (saves ₹3,000+ per cycle)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₹ Zero premature fuel system repairs or replacement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₹ Estimated total savings of ₹15,000+ per year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₹ Calibrated for average Karnataka petrol price (~₹103/L)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F66"/>
                </a:solidFill>
                <a:latin typeface="Outfit"/>
              </a:defRPr>
            </a:pPr>
            <a:r>
              <a:t>ENVIRONMENTAL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Outfit"/>
              </a:defRPr>
            </a:pPr>
            <a:r>
              <a:t>Green Karnataka Initiative</a:t>
            </a:r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146304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9FA4B0"/>
                </a:solidFill>
                <a:latin typeface="Inter"/>
              </a:defRPr>
            </a:pPr>
            <a:r>
              <a:t>Supports clean air initiatives in cities like Bengaluru, Mysuru, and Hubballi-Dharwad:</a:t>
            </a:r>
          </a:p>
          <a:p>
            <a:pPr>
              <a:spcAft>
                <a:spcPts val="1000"/>
              </a:spcAft>
              <a:defRPr sz="1300">
                <a:solidFill>
                  <a:srgbClr val="00FF66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99.9% NOx &amp; SOx Elimination:</a:t>
            </a:r>
            <a:r>
              <a:rPr>
                <a:solidFill>
                  <a:srgbClr val="9FA4B0"/>
                </a:solidFill>
              </a:rPr>
              <a:t> Near-complete removal of toxic nitrogen oxides and sulfur oxides in the exhaust stream.</a:t>
            </a:r>
          </a:p>
          <a:p>
            <a:pPr>
              <a:spcAft>
                <a:spcPts val="1000"/>
              </a:spcAft>
              <a:defRPr sz="1300">
                <a:solidFill>
                  <a:srgbClr val="00FF66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90% Arsenic Reduction:</a:t>
            </a:r>
            <a:r>
              <a:rPr>
                <a:solidFill>
                  <a:srgbClr val="9FA4B0"/>
                </a:solidFill>
              </a:rPr>
              <a:t> Drastically minimizes toxic arsenic particulate exhaust by up to 90%.</a:t>
            </a:r>
          </a:p>
          <a:p>
            <a:pPr>
              <a:spcAft>
                <a:spcPts val="1000"/>
              </a:spcAft>
              <a:defRPr sz="1300">
                <a:solidFill>
                  <a:srgbClr val="00FF66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Oxygen Boost (+50% O₂):</a:t>
            </a:r>
            <a:r>
              <a:rPr>
                <a:solidFill>
                  <a:srgbClr val="9FA4B0"/>
                </a:solidFill>
              </a:rPr>
              <a:t> Dramatically increases clean, breathable oxygen levels in the tailpipe output.</a:t>
            </a:r>
          </a:p>
          <a:p>
            <a:pPr>
              <a:spcAft>
                <a:spcPts val="1000"/>
              </a:spcAft>
              <a:defRPr sz="1300">
                <a:solidFill>
                  <a:srgbClr val="00FF66"/>
                </a:solidFill>
                <a:latin typeface="Inter"/>
              </a:defRPr>
            </a:pPr>
            <a:r>
              <a:t>• </a:t>
            </a:r>
            <a:r>
              <a:rPr b="1">
                <a:solidFill>
                  <a:srgbClr val="FFFFFF"/>
                </a:solidFill>
              </a:rPr>
              <a:t>Combustion Optimization:</a:t>
            </a:r>
            <a:r>
              <a:rPr>
                <a:solidFill>
                  <a:srgbClr val="9FA4B0"/>
                </a:solidFill>
              </a:rPr>
              <a:t> Optimizes engine combustion to neutralize standard carbon footprint outputs.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572000" cy="4114800"/>
          </a:xfrm>
          <a:prstGeom prst="roundRect">
            <a:avLst/>
          </a:prstGeom>
          <a:solidFill>
            <a:srgbClr val="181A25"/>
          </a:solidFill>
          <a:ln w="1270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500"/>
              </a:spcAft>
              <a:defRPr b="1" sz="1800">
                <a:solidFill>
                  <a:srgbClr val="00FF66"/>
                </a:solidFill>
                <a:latin typeface="Outfit"/>
              </a:defRPr>
            </a:pPr>
            <a:r>
              <a:t>ECOLOGICAL COMPLIANCE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🌱 Highly recommended for PUC emission compliance tests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🌱 Converts exhaust elements into cleaner air compounds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🌱 Supports green emission targets for transport operators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Inter"/>
              </a:defRPr>
            </a:pPr>
            <a:r>
              <a:t>🌱 Reduces toxic smog-forming compounds in urban centers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F66"/>
                </a:solidFill>
                <a:latin typeface="Outfit"/>
              </a:defRPr>
            </a:pPr>
            <a: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Outfit"/>
              </a:defRPr>
            </a:pPr>
            <a:r>
              <a:t>1,00,000 KM Efficacy Guarantee</a:t>
            </a:r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65760"/>
            <a:ext cx="146304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0"/>
              </a:spcAft>
              <a:defRPr sz="1500">
                <a:solidFill>
                  <a:srgbClr val="9FA4B0"/>
                </a:solidFill>
                <a:latin typeface="Inter"/>
              </a:defRPr>
            </a:pPr>
            <a:r>
              <a:t>Engineered for maximum duration and passenger peace of mind:</a:t>
            </a:r>
          </a:p>
          <a:p>
            <a:pPr>
              <a:spcAft>
                <a:spcPts val="1000"/>
              </a:spcAft>
              <a:defRPr sz="1800" b="1">
                <a:solidFill>
                  <a:srgbClr val="00FF66"/>
                </a:solidFill>
                <a:latin typeface="Tunga"/>
              </a:defRPr>
            </a:pPr>
            <a:r>
              <a:t>ಒಮ್ಮೆ ಬಳಸಿ, ದೀರ್ಘಕಾಲದವರೆಗೆ ಚಿಂತೆಮುಕ್ತರಾಗಿ</a:t>
            </a:r>
          </a:p>
          <a:p>
            <a:pPr>
              <a:spcAft>
                <a:spcPts val="2500"/>
              </a:spcAft>
              <a:defRPr sz="1400">
                <a:solidFill>
                  <a:srgbClr val="9FA4B0"/>
                </a:solidFill>
                <a:latin typeface="Inter"/>
              </a:defRPr>
            </a:pPr>
            <a:r>
              <a:t>A single complete application remains fully active in the vehicle's engine and lubrication systems for 1,00,000 kilometers, requiring zero top-ups or frequent treatment renewals.</a:t>
            </a:r>
          </a:p>
          <a:p>
            <a:pPr>
              <a:spcAft>
                <a:spcPts val="500"/>
              </a:spcAft>
              <a:defRPr sz="1400" b="1">
                <a:solidFill>
                  <a:srgbClr val="00F0FF"/>
                </a:solidFill>
                <a:latin typeface="Outfit"/>
              </a:defRPr>
            </a:pPr>
            <a:r>
              <a:t>PRESENTER NOTE:</a:t>
            </a:r>
          </a:p>
          <a:p>
            <a:pPr>
              <a:defRPr sz="1300">
                <a:solidFill>
                  <a:srgbClr val="9FA4B0"/>
                </a:solidFill>
                <a:latin typeface="Inter"/>
              </a:defRPr>
            </a:pPr>
            <a:r>
              <a:t>Keep presentations focused on the long-term cost benefits, mechanical reliability, and peace of mind this 1,00,000 km timeline offers to individual car owners and corporate fleet managers in Karnataka.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572000" cy="4114800"/>
          </a:xfrm>
          <a:prstGeom prst="roundRect">
            <a:avLst/>
          </a:prstGeom>
          <a:solidFill>
            <a:srgbClr val="181A25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731520"/>
          <a:lstStyle/>
          <a:p>
            <a:pPr algn="ctr">
              <a:spcAft>
                <a:spcPts val="1000"/>
              </a:spcAft>
              <a:defRPr b="1" sz="4000">
                <a:solidFill>
                  <a:srgbClr val="00FF66"/>
                </a:solidFill>
                <a:latin typeface="Outfit"/>
              </a:defRPr>
            </a:pPr>
            <a:r>
              <a:t>1,00,000 KM</a:t>
            </a:r>
          </a:p>
          <a:p>
            <a:pPr algn="ctr">
              <a:spcAft>
                <a:spcPts val="1000"/>
              </a:spcAft>
              <a:defRPr b="1" sz="2000">
                <a:solidFill>
                  <a:srgbClr val="FFFFFF"/>
                </a:solidFill>
                <a:latin typeface="Tunga"/>
              </a:defRPr>
            </a:pPr>
            <a:r>
              <a:t>ಖಾತರಿ ಯಶಸ್ಸು</a:t>
            </a:r>
          </a:p>
          <a:p>
            <a:pPr algn="ctr">
              <a:defRPr sz="1300">
                <a:solidFill>
                  <a:srgbClr val="9FA4B0"/>
                </a:solidFill>
                <a:latin typeface="Inter"/>
              </a:defRPr>
            </a:pPr>
            <a:r>
              <a:t>Certified to protect high-pressure fuel injectors and cylinders across Karnataka's highway and transit networks.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